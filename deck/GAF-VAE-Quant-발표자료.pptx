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실측 종목 수</c:v>
                </c:pt>
              </c:strCache>
            </c:strRef>
          </c:tx>
          <c:spPr>
            <a:solidFill>
              <a:srgbClr val="16213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~40%</c:v>
                  </c:pt>
                  <c:pt idx="1">
                    <c:v>40-45%</c:v>
                  </c:pt>
                  <c:pt idx="2">
                    <c:v>45-50%</c:v>
                  </c:pt>
                  <c:pt idx="3">
                    <c:v>50-55%</c:v>
                  </c:pt>
                  <c:pt idx="4">
                    <c:v>55-60%</c:v>
                  </c:pt>
                  <c:pt idx="5">
                    <c:v>60-65%</c:v>
                  </c:pt>
                  <c:pt idx="6">
                    <c:v>65%~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17</c:v>
                </c:pt>
                <c:pt idx="1">
                  <c:v>44</c:v>
                </c:pt>
                <c:pt idx="2">
                  <c:v>58</c:v>
                </c:pt>
                <c:pt idx="3">
                  <c:v>72</c:v>
                </c:pt>
                <c:pt idx="4">
                  <c:v>41</c:v>
                </c:pt>
                <c:pt idx="5">
                  <c:v>17</c:v>
                </c:pt>
                <c:pt idx="6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우연일 때 기대값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~40%</c:v>
                  </c:pt>
                  <c:pt idx="1">
                    <c:v>40-45%</c:v>
                  </c:pt>
                  <c:pt idx="2">
                    <c:v>45-50%</c:v>
                  </c:pt>
                  <c:pt idx="3">
                    <c:v>50-55%</c:v>
                  </c:pt>
                  <c:pt idx="4">
                    <c:v>55-60%</c:v>
                  </c:pt>
                  <c:pt idx="5">
                    <c:v>60-65%</c:v>
                  </c:pt>
                  <c:pt idx="6">
                    <c:v>65%~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16.2</c:v>
                </c:pt>
                <c:pt idx="1">
                  <c:v>39.8</c:v>
                </c:pt>
                <c:pt idx="2">
                  <c:v>68.5</c:v>
                </c:pt>
                <c:pt idx="3">
                  <c:v>68.5</c:v>
                </c:pt>
                <c:pt idx="4">
                  <c:v>39.8</c:v>
                </c:pt>
                <c:pt idx="5">
                  <c:v>13.4</c:v>
                </c:pt>
                <c:pt idx="6">
                  <c:v>2.8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B7794"/>
                </a:solidFill>
                <a:latin typeface="맑은 고딕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4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B7794"/>
                </a:solidFill>
                <a:latin typeface="맑은 고딕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6B7794"/>
              </a:solidFill>
              <a:latin typeface="맑은 고딕"/>
              <a:cs typeface="맑은 고딕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 줄 요약: 논문 방법론을 구현한 데서 끝내지 않고, 검증·게이트·주문·자가감사까지 붙인 완결된 시스템을 만들었습니다. 오늘 발표는 그 시스템 엔지니어링이 주제입니다.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규모부터 말씀드립니다. 모듈 14개, 3300줄. 핵심은 세 단계입니다 — 예측하고, 검증하고, 검증을 통과한 것만 주문한다.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논문의 방법론은 그대로 가져오되, 학습 비용·평가의 엄밀성·수익과의 연결 세 가지를 제가 채웠습니다. 이 세 숙제가 이후 슬라이드의 뼈대입니다.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위쪽이 예측에서 주문까지의 주 경로, 아래가 이를 감싸는 세 계층입니다. 파일명을 같이 적어둔 이유는 뒤에 시연에서 이 파일들을 그대로 열어보기 때문입니다.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GAF는 논문 3.2.2절 그대로입니다. 제가 바꾼 건 채널 구성 하나 — GASF를 더해 AUC가 0.53에서 0.64로 올랐습니다.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논문은 한 종목 학습에 5시간 가까이 걸립니다. 실시간 대시보드와 250종목 스캔이라는 요구사항을 맞추려면 규모를 줄일 수밖에 없었고, 대신 잠재 차원 15와 하이퍼파라미터는 논문 그대로 유지했습니다.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embargo가 빨간 구간입니다. 다음 슬라이드에서 이게 왜 필요한지 설명합니다.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논문에는 이 세 항목이 없습니다. 특히 다중검정 — 250종목을 돌리고 1등을 자랑하면 안 됩니다. 보정하면 p가 0.996, 즉 전혀 유의하지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가장 중요한 슬라이드입니다. 파란 막대가 실측, 연한 막대가 '전부 동전 던지기였다면' 기대되는 분포입니다. 거의 포개집니다. 논문 수준의 정확도 표만 보여줬다면 '55% 넘는 종목이 58개나 된다'고 자랑했을 텐데, 우연 기대치가 53개입니다.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결과가 안 나왔으니 시스템이 실패한 게 아니라, 결과가 안 나왔다는 걸 시스템이 스스로 판정하고 주문을 막는 것이 설계 목표였습니다.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탭 세 개, 엔드포인트는 이 정도입니다. 시연에서 이 화면을 직접 보여드립니다.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주문 API는 다 붙여놨지만, 기본값이 dry-run이라는 게 핵심입니다. 실수로 주문이 나가지 않게 --live 플래그를 명시적으로 요구합니다.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주문이 나가는 경로인 toss.py와 server.py는 화이트리스트에서 빼뒀습니다. AI가 자동으로 고칠 수 있는 범위를 계산 코드로 한정한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시연 스크립트는 deck/DEMO_SCRIPT.md 에 명령어와 나레이션까지 정리해뒀습니다. 하이라이트는 마지막 판정 — 시스템이 스스로 '거래하지 않는다'고 말하는 장면입니다.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성과를 한 줄로 요약하면 — 예측 모델을 만든 게 아니라, 예측이 되는지 안 되는지를 판정하고 그에 맞게 행동하는 시스템을 만들었습니다.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예상 질문: 왜 정확도가 안 나오는가 / 왜 그런데도 시스템을 만들었나 / 실제 돈을 넣었나(아니오, dry-run) / 논문과 결과가 다른 이유는 무엇인가.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371600"/>
            <a:ext cx="5120640" cy="5120640"/>
          </a:xfrm>
          <a:prstGeom prst="ellipse">
            <a:avLst/>
          </a:prstGeom>
          <a:solidFill>
            <a:srgbClr val="1E2E5A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572000"/>
            <a:ext cx="2377440" cy="2377440"/>
          </a:xfrm>
          <a:prstGeom prst="ellipse">
            <a:avLst/>
          </a:prstGeom>
          <a:solidFill>
            <a:srgbClr val="1E2E5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965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02C39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논문 재현에서 실거래 시스템까지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37744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GAF · VAE Quant</a:t>
            </a:r>
            <a:endParaRPr lang="en-US" sz="5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4290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캔들차트를 이미지로 인코딩해 주가 방향을 예측하고,</a:t>
            </a: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검증을 통과한 신호만 실제 증권사 API로 주문하는 종단 간 시스템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4709160"/>
            <a:ext cx="201168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49377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Python · PyTorch · FastAPI · scikit-learn · gs-quant · 토스증권 Open API · Claude API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2C39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621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한눈에 보기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514600" cy="2057400"/>
          </a:xfrm>
          <a:prstGeom prst="roundRect">
            <a:avLst>
              <a:gd name="adj" fmla="val 4444"/>
            </a:avLst>
          </a:prstGeom>
          <a:solidFill>
            <a:srgbClr val="F1F4FA"/>
          </a:solidFill>
          <a:ln/>
          <a:effectLst>
            <a:outerShdw sx="100000" sy="100000" kx="0" ky="0" algn="bl" rotWithShape="0" blurRad="152400" dist="38100" dir="5400000">
              <a:srgbClr val="1E2E5A">
                <a:alpha val="14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201168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889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백엔드 모듈</a:t>
            </a:r>
            <a:endParaRPr lang="en-US" sz="12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3,300여 줄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29000" y="1737360"/>
            <a:ext cx="2514600" cy="2057400"/>
          </a:xfrm>
          <a:prstGeom prst="roundRect">
            <a:avLst>
              <a:gd name="adj" fmla="val 4444"/>
            </a:avLst>
          </a:prstGeom>
          <a:solidFill>
            <a:srgbClr val="F1F4FA"/>
          </a:solidFill>
          <a:ln/>
          <a:effectLst>
            <a:outerShdw sx="100000" sy="100000" kx="0" ky="0" algn="bl" rotWithShape="0" blurRad="152400" dist="38100" dir="5400000">
              <a:srgbClr val="1E2E5A">
                <a:alpha val="14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429000" y="201168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621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250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27889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나스닥 종목</a:t>
            </a:r>
            <a:endParaRPr lang="en-US" sz="12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일괄 스캔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737360"/>
            <a:ext cx="2514600" cy="2057400"/>
          </a:xfrm>
          <a:prstGeom prst="roundRect">
            <a:avLst>
              <a:gd name="adj" fmla="val 4444"/>
            </a:avLst>
          </a:prstGeom>
          <a:solidFill>
            <a:srgbClr val="F1F4FA"/>
          </a:solidFill>
          <a:ln/>
          <a:effectLst>
            <a:outerShdw sx="100000" sy="100000" kx="0" ky="0" algn="bl" rotWithShape="0" blurRad="152400" dist="38100" dir="5400000">
              <a:srgbClr val="1E2E5A">
                <a:alpha val="14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217920" y="201168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27889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 트랙</a:t>
            </a:r>
            <a:endParaRPr lang="en-US" sz="12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주간 · 월간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006840" y="1737360"/>
            <a:ext cx="2514600" cy="2057400"/>
          </a:xfrm>
          <a:prstGeom prst="roundRect">
            <a:avLst>
              <a:gd name="adj" fmla="val 4444"/>
            </a:avLst>
          </a:prstGeom>
          <a:solidFill>
            <a:srgbClr val="F1F4FA"/>
          </a:solidFill>
          <a:ln/>
          <a:effectLst>
            <a:outerShdw sx="100000" sy="100000" kx="0" ky="0" algn="bl" rotWithShape="0" blurRad="152400" dist="38100" dir="5400000">
              <a:srgbClr val="1E2E5A">
                <a:alpha val="14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006840" y="201168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621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9006840" y="27889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대시보드 탭</a:t>
            </a:r>
            <a:endParaRPr lang="en-US" sz="12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분석·스캔·감사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297680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297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427939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→ 예측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4590288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7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yfinance 일봉 → GAF 이미지 인코딩 →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7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VAE 잠재변수 15차원 → 앙상블 분류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43400" y="4297680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343400" y="4297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892040" y="427939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예측 → 검증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892040" y="4590288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7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Walk-forward 표본 외 평가에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7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라벨 누수·표본 겹침·다중검정 보정까지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046720" y="4297680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046720" y="4297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8595360" y="427939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→ 주문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8595360" y="4590288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7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통계적 유의성을 통과한 종목만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7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토스증권 Open API로 주문 (기본 dry-run)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58978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여기에 코드 자체를 점검하는 AI 감사 에이전트가 한 겹 더 붙습니다.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2C39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BACKGROUND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621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출발점 — 캔들차트를 '이미지'로 본다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212080" cy="4343400"/>
          </a:xfrm>
          <a:prstGeom prst="roundRect">
            <a:avLst>
              <a:gd name="adj" fmla="val 2105"/>
            </a:avLst>
          </a:prstGeom>
          <a:solidFill>
            <a:srgbClr val="F1F4FA"/>
          </a:solidFill>
          <a:ln/>
          <a:effectLst>
            <a:outerShdw sx="100000" sy="100000" kx="0" ky="0" algn="bl" rotWithShape="0" blurRad="152400" dist="38100" dir="5400000">
              <a:srgbClr val="1E2E5A">
                <a:alpha val="14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1828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2C39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참고 논문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14884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700" b="1" dirty="0">
                <a:solidFill>
                  <a:srgbClr val="1621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촛대 차트의 극좌표 위치 인코딩 이미지에 대한</a:t>
            </a:r>
            <a:endParaRPr lang="en-US" sz="17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700" b="1" dirty="0">
                <a:solidFill>
                  <a:srgbClr val="1621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변이형 오토인코더를 이용한 주가 예측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063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한양대학교 조예서, 2022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52044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1621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아이디어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6B7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시계열을 극좌표로 옮겨 2차원 행렬(GAF)로 만들면, 시점 간 상관관계가 이미지의 공간 구조로 보존된다. 그 이미지를 VAE로 압축한 잠재변수를 예측 변수로 쓴다.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16916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1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논문이 남긴 세 가지 숙제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400800" y="2286000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0" y="2286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949440" y="226771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비용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949440" y="257860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7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128×128 RGB · Conv 5층 → 학습에 4시간 50분.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7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실시간 재분석이 불가능한 규모.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0" y="3584448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0" y="3584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949440" y="35661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평가 방식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949440" y="3877056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7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정확도·F1·AUC까지만. '이 성적이 우연인가'를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7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따지는 유의성 검정이 없다.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0" y="4882896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00800" y="4882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949440" y="48646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수익과의 연결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949440" y="5175504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7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익일 방향 이진 분류에서 멈춤.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7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거래비용·보유기간·주문으로 이어지지 않는다.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960120" y="52578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1621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프로젝트는 이 방법론을 그대로 쓰되, 세 숙제를 시스템 설계로 채웠다.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2C39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621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파이프라인 아키텍처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673352" cy="1691640"/>
          </a:xfrm>
          <a:prstGeom prst="roundRect">
            <a:avLst>
              <a:gd name="adj" fmla="val 5464"/>
            </a:avLst>
          </a:prstGeom>
          <a:solidFill>
            <a:srgbClr val="F1F4FA"/>
          </a:solidFill>
          <a:ln/>
          <a:effectLst>
            <a:outerShdw sx="100000" sy="100000" kx="0" ky="0" algn="bl" rotWithShape="0" blurRad="152400" dist="38100" dir="5400000">
              <a:srgbClr val="1E2E5A">
                <a:alpha val="14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2011680"/>
            <a:ext cx="1673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1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일봉 OHLC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377440"/>
            <a:ext cx="1673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yfinance</a:t>
            </a:r>
            <a:endParaRPr lang="en-US" sz="11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5분 캐시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072384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data.py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2313432" y="2377440"/>
            <a:ext cx="173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487168" y="1828800"/>
            <a:ext cx="1673352" cy="1691640"/>
          </a:xfrm>
          <a:prstGeom prst="roundRect">
            <a:avLst>
              <a:gd name="adj" fmla="val 5464"/>
            </a:avLst>
          </a:prstGeom>
          <a:solidFill>
            <a:srgbClr val="F1F4FA"/>
          </a:solidFill>
          <a:ln/>
          <a:effectLst>
            <a:outerShdw sx="100000" sy="100000" kx="0" ky="0" algn="bl" rotWithShape="0" blurRad="152400" dist="38100" dir="5400000">
              <a:srgbClr val="1E2E5A">
                <a:alpha val="14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2487168" y="2011680"/>
            <a:ext cx="1673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1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GAF 인코딩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487168" y="2377440"/>
            <a:ext cx="1673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GADF+GASF</a:t>
            </a:r>
            <a:endParaRPr lang="en-US" sz="11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2채널 40×40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487168" y="3072384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gaf.py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4160520" y="2377440"/>
            <a:ext cx="173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334256" y="1828800"/>
            <a:ext cx="1673352" cy="1691640"/>
          </a:xfrm>
          <a:prstGeom prst="roundRect">
            <a:avLst>
              <a:gd name="adj" fmla="val 5464"/>
            </a:avLst>
          </a:prstGeom>
          <a:solidFill>
            <a:srgbClr val="F1F4FA"/>
          </a:solidFill>
          <a:ln/>
          <a:effectLst>
            <a:outerShdw sx="100000" sy="100000" kx="0" ky="0" algn="bl" rotWithShape="0" blurRad="152400" dist="38100" dir="5400000">
              <a:srgbClr val="1E2E5A">
                <a:alpha val="14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4334256" y="2011680"/>
            <a:ext cx="1673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1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Conv VAE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334256" y="2377440"/>
            <a:ext cx="1673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잠재변수</a:t>
            </a:r>
            <a:endParaRPr lang="en-US" sz="11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15차원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334256" y="3072384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vae.py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6007608" y="2377440"/>
            <a:ext cx="173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181344" y="1828800"/>
            <a:ext cx="1673352" cy="1691640"/>
          </a:xfrm>
          <a:prstGeom prst="roundRect">
            <a:avLst>
              <a:gd name="adj" fmla="val 5464"/>
            </a:avLst>
          </a:prstGeom>
          <a:solidFill>
            <a:srgbClr val="F1F4FA"/>
          </a:solidFill>
          <a:ln/>
          <a:effectLst>
            <a:outerShdw sx="100000" sy="100000" kx="0" ky="0" algn="bl" rotWithShape="0" blurRad="152400" dist="38100" dir="5400000">
              <a:srgbClr val="1E2E5A">
                <a:alpha val="14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181344" y="2011680"/>
            <a:ext cx="1673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1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앙상블 분류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181344" y="2377440"/>
            <a:ext cx="1673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로지스틱·SVM</a:t>
            </a:r>
            <a:endParaRPr lang="en-US" sz="11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랜덤포레스트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181344" y="3072384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models.py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7854696" y="2377440"/>
            <a:ext cx="173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8028432" y="1828800"/>
            <a:ext cx="1673352" cy="1691640"/>
          </a:xfrm>
          <a:prstGeom prst="roundRect">
            <a:avLst>
              <a:gd name="adj" fmla="val 5464"/>
            </a:avLst>
          </a:prstGeom>
          <a:solidFill>
            <a:srgbClr val="16213E"/>
          </a:solidFill>
          <a:ln/>
          <a:effectLst>
            <a:outerShdw sx="100000" sy="100000" kx="0" ky="0" algn="bl" rotWithShape="0" blurRad="152400" dist="38100" dir="5400000">
              <a:srgbClr val="1E2E5A">
                <a:alpha val="14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8028432" y="2011680"/>
            <a:ext cx="1673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게이트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8028432" y="2377440"/>
            <a:ext cx="1673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Walk-forward</a:t>
            </a:r>
            <a:endParaRPr lang="en-US" sz="11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이항검정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8028432" y="3072384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trader.py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9701784" y="2377440"/>
            <a:ext cx="173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9875520" y="1828800"/>
            <a:ext cx="1673352" cy="1691640"/>
          </a:xfrm>
          <a:prstGeom prst="roundRect">
            <a:avLst>
              <a:gd name="adj" fmla="val 5464"/>
            </a:avLst>
          </a:prstGeom>
          <a:solidFill>
            <a:srgbClr val="02C39A"/>
          </a:solidFill>
          <a:ln/>
          <a:effectLst>
            <a:outerShdw sx="100000" sy="100000" kx="0" ky="0" algn="bl" rotWithShape="0" blurRad="152400" dist="38100" dir="5400000">
              <a:srgbClr val="1E2E5A">
                <a:alpha val="14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9875520" y="2011680"/>
            <a:ext cx="1673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주문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9875520" y="2377440"/>
            <a:ext cx="1673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토스증권</a:t>
            </a:r>
            <a:endParaRPr lang="en-US" sz="11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Open API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9875520" y="3072384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toss.py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40080" y="3941064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32688" y="38862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실시간 계층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3154680" y="3886200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FastAPI + 단일 HTML 대시보드. 현재가 15초 폴링,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1시간마다 자동 재분석, 학습 결과는 기준일 단위 디스크 캐시.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8778240" y="3886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server.py · pipeline.py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40080" y="4764024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932688" y="47091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 확장 계층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3154680" y="4709160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gs-quant 기반 변동성·RSI·MACD·볼린저·MDD 산출,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1/5/20일 예상 주가와 ±σ√h 밴드.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8778240" y="4709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quant.py · indicators.py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40080" y="5586984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932688" y="5532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자가 점검 계층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3154680" y="5532120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GAF 수학 불변식·데이터 무결성·VAE 사후분포 붕괴를 진단하고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 시 Claude API로 패치를 받아 적용·롤백.</a:t>
            </a:r>
            <a:endParaRPr lang="en-US" sz="1150" dirty="0"/>
          </a:p>
        </p:txBody>
      </p:sp>
      <p:sp>
        <p:nvSpPr>
          <p:cNvPr id="44" name="Text 42"/>
          <p:cNvSpPr txBox="1"/>
          <p:nvPr/>
        </p:nvSpPr>
        <p:spPr>
          <a:xfrm>
            <a:off x="8778240" y="5532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ai_auditor.py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2C39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PIPELINE 1/3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621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GAF 인코딩 — 시계열을 극좌표 이미지로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394960" cy="2331720"/>
          </a:xfrm>
          <a:prstGeom prst="roundRect">
            <a:avLst>
              <a:gd name="adj" fmla="val 3922"/>
            </a:avLst>
          </a:prstGeom>
          <a:solidFill>
            <a:srgbClr val="F1F4FA"/>
          </a:solidFill>
          <a:ln/>
          <a:effectLst>
            <a:outerShdw sx="100000" sy="100000" kx="0" ky="0" algn="bl" rotWithShape="0" blurRad="152400" dist="38100" dir="5400000">
              <a:srgbClr val="1E2E5A">
                <a:alpha val="14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18288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변환 두 단계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194560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x̃ᵢ = ((xᵢ − max X) + (xᵢ − min X)) / (max X − min X)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φᵢ = arccos(x̃ᵢ)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92608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GADF = sin(φᵢ − φⱼ)   ·   GASF = cos(φᵢ + φⱼ)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2918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값을 [−1,1]로 정규화한 뒤 각도로 바꾸면, 두 시점의 각도 차·합이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행렬 원소가 된다. 시간 순서와 상관구조가 이미지에 그대로 남는다.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1691640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 이미지 구성 — 2×2 타일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537960" y="2057400"/>
            <a:ext cx="987552" cy="987552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37960" y="2057400"/>
            <a:ext cx="9875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종가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589520" y="2057400"/>
            <a:ext cx="987552" cy="987552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589520" y="2057400"/>
            <a:ext cx="9875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시가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537960" y="3108960"/>
            <a:ext cx="987552" cy="987552"/>
          </a:xfrm>
          <a:prstGeom prst="rect">
            <a:avLst/>
          </a:prstGeom>
          <a:solidFill>
            <a:srgbClr val="1E2E5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37960" y="3108960"/>
            <a:ext cx="9875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고가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589520" y="3108960"/>
            <a:ext cx="987552" cy="987552"/>
          </a:xfrm>
          <a:prstGeom prst="rect">
            <a:avLst/>
          </a:prstGeom>
          <a:solidFill>
            <a:srgbClr val="1E2E5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589520" y="3108960"/>
            <a:ext cx="9875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저가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778240" y="210312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20일 창의 OHLC 네 계열을 각각 20×20 GAF로 만들어 하나의 40×40 이미지로 붙인다. GADF·GASF 두 장이 2채널로 들어간다.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4389120"/>
            <a:ext cx="10881360" cy="1417320"/>
          </a:xfrm>
          <a:prstGeom prst="roundRect">
            <a:avLst>
              <a:gd name="adj" fmla="val 6452"/>
            </a:avLst>
          </a:prstGeom>
          <a:solidFill>
            <a:srgbClr val="E8F7F2"/>
          </a:solidFill>
          <a:ln/>
          <a:effectLst>
            <a:outerShdw sx="100000" sy="100000" kx="0" ky="0" algn="bl" rotWithShape="0" blurRad="152400" dist="38100" dir="5400000">
              <a:srgbClr val="1E2E5A">
                <a:alpha val="14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60120" y="45994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논문 대비 개선  ·  GADF 1채널 → GADF + GASF 2채널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960120" y="493776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7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각도의 차만 쓰면 대칭 정보가 버려진다. 합(GASF)을 두 번째 채널로 더했더니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7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AAPL 기준 정확도 54% → 56%, AUC 0.53 → 0.64 로 올라갔다.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412480" y="47091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AUC 0.53 → 0.64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2C39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PIPELINE 2/3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621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Conv VAE — 잠재변수 15차원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B7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40×40 GAF 이미지를 Conv 인코더로 압축해 평균·분산을 얻고, 재매개변수 트릭으로 15차원 잠재변수를 뽑는다. 손실은 재구축 오차(BCE) + KL 발산.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9509760" cy="3383280"/>
          </a:xfrm>
          <a:prstGeom prst="roundRect">
            <a:avLst>
              <a:gd name="adj" fmla="val 2703"/>
            </a:avLst>
          </a:prstGeom>
          <a:solidFill>
            <a:srgbClr val="F1F4FA"/>
          </a:solidFill>
          <a:ln/>
          <a:effectLst>
            <a:outerShdw sx="100000" sy="100000" kx="0" ky="0" algn="bl" rotWithShape="0" blurRad="152400" dist="38100" dir="5400000">
              <a:srgbClr val="1E2E5A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2834640"/>
            <a:ext cx="8778240" cy="0"/>
          </a:xfrm>
          <a:prstGeom prst="line">
            <a:avLst/>
          </a:prstGeom>
          <a:noFill/>
          <a:ln w="9525">
            <a:solidFill>
              <a:srgbClr val="6B779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24505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항목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245059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논문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675120" y="245059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구현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29077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 이미지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290779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128 × 128 RGB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0" y="290779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 × 40 · 2채널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33649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Conv 층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383280" y="336499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5층 (128~1024 필터)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675120" y="336499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3층 (32~128 필터)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38221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잠재 차원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383280" y="382219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675120" y="382219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 (동일)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005840" y="42793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시간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3383280" y="427939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4시간 50분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675120" y="427939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수십 초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005840" y="47365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재현성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3383280" y="473659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명시 없음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675120" y="473659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torch·numpy 시드 고정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005840" y="51937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재학습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3383280" y="519379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 실행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675120" y="519379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기준일 단위 디스크 캐시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10058400" y="2240280"/>
            <a:ext cx="1463040" cy="3383280"/>
          </a:xfrm>
          <a:prstGeom prst="roundRect">
            <a:avLst>
              <a:gd name="adj" fmla="val 6250"/>
            </a:avLst>
          </a:prstGeom>
          <a:solidFill>
            <a:srgbClr val="16213E"/>
          </a:solidFill>
          <a:ln/>
          <a:effectLst>
            <a:outerShdw sx="100000" sy="100000" kx="0" ky="0" algn="bl" rotWithShape="0" blurRad="152400" dist="38100" dir="5400000">
              <a:srgbClr val="1E2E5A">
                <a:alpha val="14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10058400" y="32461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2C39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580×</a:t>
            </a:r>
            <a:endParaRPr lang="en-US" sz="2700" dirty="0"/>
          </a:p>
        </p:txBody>
      </p:sp>
      <p:sp>
        <p:nvSpPr>
          <p:cNvPr id="30" name="Text 28"/>
          <p:cNvSpPr txBox="1"/>
          <p:nvPr/>
        </p:nvSpPr>
        <p:spPr>
          <a:xfrm>
            <a:off x="10058400" y="37947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시간</a:t>
            </a:r>
            <a:endParaRPr lang="en-US" sz="12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단축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40080" y="58064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규모를 줄인 건 타협이 아니라 요구사항이다 — 대시보드가 1시간마다 자동 재분석하고 250종목을 일괄 스캔하려면 종목당 학습이 초 단위여야 한다.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2C39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PIPELINE 3/3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621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앙상블 분류와 Walk-forward 검증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4592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모형의 확률 평균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029200" cy="621792"/>
          </a:xfrm>
          <a:prstGeom prst="roundRect">
            <a:avLst>
              <a:gd name="adj" fmla="val 14706"/>
            </a:avLst>
          </a:prstGeom>
          <a:solidFill>
            <a:srgbClr val="F1F4FA"/>
          </a:solidFill>
          <a:ln/>
          <a:effectLst>
            <a:outerShdw sx="100000" sy="100000" kx="0" ky="0" algn="bl" rotWithShape="0" blurRad="152400" dist="38100" dir="5400000">
              <a:srgbClr val="1E2E5A">
                <a:alpha val="14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14400" y="217627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로지스틱 회귀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3017520" y="21945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선형 경계 · 확률 해석 직관적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852928"/>
            <a:ext cx="5029200" cy="621792"/>
          </a:xfrm>
          <a:prstGeom prst="roundRect">
            <a:avLst>
              <a:gd name="adj" fmla="val 14706"/>
            </a:avLst>
          </a:prstGeom>
          <a:solidFill>
            <a:srgbClr val="F1F4FA"/>
          </a:solidFill>
          <a:ln/>
          <a:effectLst>
            <a:outerShdw sx="100000" sy="100000" kx="0" ky="0" algn="bl" rotWithShape="0" blurRad="152400" dist="38100" dir="5400000">
              <a:srgbClr val="1E2E5A">
                <a:alpha val="14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914400" y="29260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SVM (RBF)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017520" y="294436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비선형 경계 · 확률 보정 적용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3602736"/>
            <a:ext cx="5029200" cy="621792"/>
          </a:xfrm>
          <a:prstGeom prst="roundRect">
            <a:avLst>
              <a:gd name="adj" fmla="val 14706"/>
            </a:avLst>
          </a:prstGeom>
          <a:solidFill>
            <a:srgbClr val="F1F4FA"/>
          </a:solidFill>
          <a:ln/>
          <a:effectLst>
            <a:outerShdw sx="100000" sy="100000" kx="0" ky="0" algn="bl" rotWithShape="0" blurRad="152400" dist="38100" dir="5400000">
              <a:srgbClr val="1E2E5A">
                <a:alpha val="14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914400" y="367588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랜덤 포레스트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017520" y="369417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상호작용 포착 · 300 트리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443484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C39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 앙상블 확률 = 세 확률의 산술 평균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48463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입력은 VAE 잠재변수 15차원뿐이다. 원본 가격을 직접 넣지 않아 스케일 편향이 들어오지 않는다.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126480" y="164592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Walk-forward — 항상 과거로 학습, 미래로 평가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126480" y="2148840"/>
            <a:ext cx="2377440" cy="32918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8" name="Shape 16"/>
          <p:cNvSpPr/>
          <p:nvPr/>
        </p:nvSpPr>
        <p:spPr>
          <a:xfrm>
            <a:off x="8503920" y="2148840"/>
            <a:ext cx="256032" cy="32918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9" name="Shape 17"/>
          <p:cNvSpPr/>
          <p:nvPr/>
        </p:nvSpPr>
        <p:spPr>
          <a:xfrm>
            <a:off x="8759952" y="2148840"/>
            <a:ext cx="566928" cy="329184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400032" y="214884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walk 1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26480" y="2715768"/>
            <a:ext cx="2944368" cy="32918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22" name="Shape 20"/>
          <p:cNvSpPr/>
          <p:nvPr/>
        </p:nvSpPr>
        <p:spPr>
          <a:xfrm>
            <a:off x="9070848" y="2715768"/>
            <a:ext cx="256032" cy="32918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3" name="Shape 21"/>
          <p:cNvSpPr/>
          <p:nvPr/>
        </p:nvSpPr>
        <p:spPr>
          <a:xfrm>
            <a:off x="9326880" y="2715768"/>
            <a:ext cx="566928" cy="329184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966960" y="271576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walk 2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26480" y="3282696"/>
            <a:ext cx="3511296" cy="32918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26" name="Shape 24"/>
          <p:cNvSpPr/>
          <p:nvPr/>
        </p:nvSpPr>
        <p:spPr>
          <a:xfrm>
            <a:off x="9637776" y="3282696"/>
            <a:ext cx="256032" cy="32918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7" name="Shape 25"/>
          <p:cNvSpPr/>
          <p:nvPr/>
        </p:nvSpPr>
        <p:spPr>
          <a:xfrm>
            <a:off x="9893808" y="3282696"/>
            <a:ext cx="566928" cy="329184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10533888" y="3282696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walk 3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26480" y="3849624"/>
            <a:ext cx="4078224" cy="32918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0" name="Shape 28"/>
          <p:cNvSpPr/>
          <p:nvPr/>
        </p:nvSpPr>
        <p:spPr>
          <a:xfrm>
            <a:off x="10204704" y="3849624"/>
            <a:ext cx="256032" cy="32918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1" name="Shape 29"/>
          <p:cNvSpPr/>
          <p:nvPr/>
        </p:nvSpPr>
        <p:spPr>
          <a:xfrm>
            <a:off x="10460736" y="3849624"/>
            <a:ext cx="566928" cy="329184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11100816" y="3849624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walk 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126480" y="4572000"/>
            <a:ext cx="182880" cy="1463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400800" y="45262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구간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126480" y="4864608"/>
            <a:ext cx="182880" cy="14630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400800" y="48188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embargo (h−1일 폐기)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126480" y="5157216"/>
            <a:ext cx="182880" cy="146304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400800" y="51114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표본 외 평가 21일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6126480" y="548640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VAE는 고정하고 walk마다 분류기만 재학습한다. 평가에 쓰인 확률은 전부 학습에 쓰이지 않은 표본 외 예측이다.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2C39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621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검증을 진지하게 — 성적을 부풀리는 세 가지 함정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727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여기가 이 프로젝트에서 가장 많은 시간을 쓴 부분이다. 이 셋을 처리하지 않으면 없는 예측력이 있다고 나온다.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3429000" cy="3566160"/>
          </a:xfrm>
          <a:prstGeom prst="roundRect">
            <a:avLst>
              <a:gd name="adj" fmla="val 2667"/>
            </a:avLst>
          </a:prstGeom>
          <a:solidFill>
            <a:srgbClr val="F1F4FA"/>
          </a:solidFill>
          <a:ln/>
          <a:effectLst>
            <a:outerShdw sx="100000" sy="100000" kx="0" ky="0" algn="bl" rotWithShape="0" blurRad="152400" dist="38100" dir="5400000">
              <a:srgbClr val="1E2E5A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331720"/>
            <a:ext cx="402336" cy="40233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3317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35915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라벨 누수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880360"/>
            <a:ext cx="2880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h일 뒤 종가를 라벨로 쓰면, 학습 구간 끝 h−1개 표본의 정답이 이미 테스트 구간 가격을 참조한다.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914400" y="4069080"/>
            <a:ext cx="28803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51560" y="420624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1621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walk_forward(embargo = h−1)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1621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해당 구간을 통째로 버린다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516636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models.py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343400" y="2103120"/>
            <a:ext cx="3429000" cy="3566160"/>
          </a:xfrm>
          <a:prstGeom prst="roundRect">
            <a:avLst>
              <a:gd name="adj" fmla="val 2667"/>
            </a:avLst>
          </a:prstGeom>
          <a:solidFill>
            <a:srgbClr val="F1F4FA"/>
          </a:solidFill>
          <a:ln/>
          <a:effectLst>
            <a:outerShdw sx="100000" sy="100000" kx="0" ky="0" algn="bl" rotWithShape="0" blurRad="152400" dist="38100" dir="5400000">
              <a:srgbClr val="1E2E5A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17720" y="2331720"/>
            <a:ext cx="402336" cy="40233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617720" y="23317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166360" y="235915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표본 겹침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617720" y="2880360"/>
            <a:ext cx="2880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이웃 표본이 미래 구간을 공유해 서로 독립이 아니다. 표본 504개를 504개로 세면 p값이 과소평가된다.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617720" y="4069080"/>
            <a:ext cx="28803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754880" y="420624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1621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effective_n = n / h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1621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월간(h=21) → 유효 표본 24개로 검정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4617720" y="516636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trader.py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046720" y="2103120"/>
            <a:ext cx="3429000" cy="3566160"/>
          </a:xfrm>
          <a:prstGeom prst="roundRect">
            <a:avLst>
              <a:gd name="adj" fmla="val 2667"/>
            </a:avLst>
          </a:prstGeom>
          <a:solidFill>
            <a:srgbClr val="F1F4FA"/>
          </a:solidFill>
          <a:ln/>
          <a:effectLst>
            <a:outerShdw sx="100000" sy="100000" kx="0" ky="0" algn="bl" rotWithShape="0" blurRad="152400" dist="38100" dir="5400000">
              <a:srgbClr val="1E2E5A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321040" y="2331720"/>
            <a:ext cx="402336" cy="40233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321040" y="23317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8869680" y="235915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다중검정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8321040" y="2880360"/>
            <a:ext cx="2880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250종목 중 최고 성적을 고르면, 전부 동전이어도 누군가는 63% 를 낸다.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321040" y="4069080"/>
            <a:ext cx="28803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458200" y="420624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1621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정확도 63.5%, 단독 p = 0.022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1621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250종목 보정 후 p = 0.996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8321040" y="516636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nasdaq100.py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58978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셋 다 '성적이 좋아 보이는' 방향으로만 틀린다 — 처리하지 않으면 반드시 과대평가된다.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2C39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RESULT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621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실측 결과 — 정확도 분포는 우연의 분포와 겹친다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727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나스닥 249종목 · 종목당 표본 외 63일 · 앙상블 예측 정확도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2011680"/>
          <a:ext cx="69494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955280" y="2148840"/>
            <a:ext cx="3566160" cy="1051560"/>
          </a:xfrm>
          <a:prstGeom prst="roundRect">
            <a:avLst>
              <a:gd name="adj" fmla="val 8696"/>
            </a:avLst>
          </a:prstGeom>
          <a:solidFill>
            <a:srgbClr val="F1F4FA"/>
          </a:solidFill>
          <a:ln/>
          <a:effectLst>
            <a:outerShdw sx="100000" sy="100000" kx="0" ky="0" algn="bl" rotWithShape="0" blurRad="152400" dist="38100" dir="5400000">
              <a:srgbClr val="1E2E5A">
                <a:alpha val="14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183880" y="225856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1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49.95%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183880" y="271576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249종목 전체를 합친 정확도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(p = 0.55 — 유의하지 않음)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955280" y="3355848"/>
            <a:ext cx="3566160" cy="1051560"/>
          </a:xfrm>
          <a:prstGeom prst="roundRect">
            <a:avLst>
              <a:gd name="adj" fmla="val 8696"/>
            </a:avLst>
          </a:prstGeom>
          <a:solidFill>
            <a:srgbClr val="F1F4FA"/>
          </a:solidFill>
          <a:ln/>
          <a:effectLst>
            <a:outerShdw sx="100000" sy="100000" kx="0" ky="0" algn="bl" rotWithShape="0" blurRad="152400" dist="38100" dir="5400000">
              <a:srgbClr val="1E2E5A">
                <a:alpha val="14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8183880" y="346557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1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0.511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8183880" y="392277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 AUC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동전 던지기는 0.500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955280" y="4562856"/>
            <a:ext cx="3566160" cy="1051560"/>
          </a:xfrm>
          <a:prstGeom prst="roundRect">
            <a:avLst>
              <a:gd name="adj" fmla="val 8696"/>
            </a:avLst>
          </a:prstGeom>
          <a:solidFill>
            <a:srgbClr val="F1F4FA"/>
          </a:solidFill>
          <a:ln/>
          <a:effectLst>
            <a:outerShdw sx="100000" sy="100000" kx="0" ky="0" algn="bl" rotWithShape="0" blurRad="152400" dist="38100" dir="5400000">
              <a:srgbClr val="1E2E5A">
                <a:alpha val="14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8183880" y="467258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 / 164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8183880" y="512978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월간 트랙에서 '항상 다수 클래스'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기준선을 넘긴 종목 수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640080" y="58064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겹침이 실패의 증거가 아니라, 검증 장치가 제대로 작동한다는 증거다 — 그래서 결론이 '거래하지 않는다'로 이어진다.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2C39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DESIGN DECISION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예측력이 없으면 주문하지 않는다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모델이 확률을 뱉는다고 곧바로 주문으로 넘기지 않는다. 종목·트랙별로 표본 외 성적이 우연과 구분되는지 먼저 검정하고, 통과하지 못하면 그 종목·그 기간은 HOLD 로 고정한다.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2514600" cy="1600200"/>
          </a:xfrm>
          <a:prstGeom prst="roundRect">
            <a:avLst>
              <a:gd name="adj" fmla="val 5714"/>
            </a:avLst>
          </a:prstGeom>
          <a:solidFill>
            <a:srgbClr val="1E2E5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48716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02C39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게이트 1 — 유의성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97180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이항검정 단측 p &lt; 0.05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겹침 보정 유효 표본 기준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29000" y="2286000"/>
            <a:ext cx="2514600" cy="1600200"/>
          </a:xfrm>
          <a:prstGeom prst="roundRect">
            <a:avLst>
              <a:gd name="adj" fmla="val 5714"/>
            </a:avLst>
          </a:prstGeom>
          <a:solidFill>
            <a:srgbClr val="1E2E5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657600" y="248716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02C39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게이트 2 — 임계값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657600" y="297180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표본 외 예측 위에서 그리드 탐색,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샤프 최대 지점 채택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2286000"/>
            <a:ext cx="2514600" cy="1600200"/>
          </a:xfrm>
          <a:prstGeom prst="roundRect">
            <a:avLst>
              <a:gd name="adj" fmla="val 5714"/>
            </a:avLst>
          </a:prstGeom>
          <a:solidFill>
            <a:srgbClr val="1E2E5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46520" y="248716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02C39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게이트 3 — 추세 필터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297180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종가 ≥ SMA20 일 때만 매수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아래면 매도 쪽으로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006840" y="2286000"/>
            <a:ext cx="2514600" cy="1600200"/>
          </a:xfrm>
          <a:prstGeom prst="roundRect">
            <a:avLst>
              <a:gd name="adj" fmla="val 5714"/>
            </a:avLst>
          </a:prstGeom>
          <a:solidFill>
            <a:srgbClr val="1E2E5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35440" y="248716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02C39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게이트 4 — 예산 상한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9235440" y="297180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주간 트랙 매수여력 10%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월간 트랙 25% 로 고정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42062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트랙으로 나눈 이유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457200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익일 방향은 노이즈가 지배적이라 라벨로 쓰기 나쁘고, 매일 신호를 갈아타면 거래비용만 쌓인다. 그래서 보유 기간을 명시적으로 잡았다.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주간 h=5 · 예산 10% · 12 walks (유효 표본 ~50)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월간 h=21 · 예산 25% · 24 walks (유효 표본 ~24)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09360" y="4206240"/>
            <a:ext cx="5212080" cy="1874520"/>
          </a:xfrm>
          <a:prstGeom prst="roundRect">
            <a:avLst>
              <a:gd name="adj" fmla="val 4878"/>
            </a:avLst>
          </a:prstGeom>
          <a:solidFill>
            <a:srgbClr val="1E2E5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83680" y="438912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실제로 무엇을 반영했나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583680" y="47548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거래비용 10bp — 토스증권 실계좌 조회값(수수료 0.100%)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왕복 20bp, 스프레드·환전은 미반영이라 이 값도 낙관적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백테스트는 walk-forward 표본 외 예측만으로 계산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기본은 dry-run — 주문은 --live 를 명시할 때만 나간다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2C39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SYSTEM 1/3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621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실시간 대시보드 — FastAPI + 단일 페이지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29000" cy="2331720"/>
          </a:xfrm>
          <a:prstGeom prst="roundRect">
            <a:avLst>
              <a:gd name="adj" fmla="val 3922"/>
            </a:avLst>
          </a:prstGeom>
          <a:solidFill>
            <a:srgbClr val="F1F4FA"/>
          </a:solidFill>
          <a:ln/>
          <a:effectLst>
            <a:outerShdw sx="100000" sy="100000" kx="0" ky="0" algn="bl" rotWithShape="0" blurRad="152400" dist="38100" dir="5400000">
              <a:srgbClr val="1E2E5A">
                <a:alpha val="14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920240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종목 분석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377440"/>
            <a:ext cx="2926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6B7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캔들 + MA20/60 + 볼린저 + 신호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6B7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1/5/20일 예상 주가와 ±σ√h 밴드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6B7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표본 외 백테스트: 전략 vs 단순 보유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6B7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현재가 15초 폴링 · 1시간 자동 재분석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43400" y="1691640"/>
            <a:ext cx="3429000" cy="2331720"/>
          </a:xfrm>
          <a:prstGeom prst="roundRect">
            <a:avLst>
              <a:gd name="adj" fmla="val 3922"/>
            </a:avLst>
          </a:prstGeom>
          <a:solidFill>
            <a:srgbClr val="F1F4FA"/>
          </a:solidFill>
          <a:ln/>
          <a:effectLst>
            <a:outerShdw sx="100000" sy="100000" kx="0" ky="0" algn="bl" rotWithShape="0" blurRad="152400" dist="38100" dir="5400000">
              <a:srgbClr val="1E2E5A">
                <a:alpha val="14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617720" y="1920240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나스닥 스캔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617720" y="2377440"/>
            <a:ext cx="2926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6B7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250종목에 고속 파이프라인 일괄 적용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6B7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표본 외 정확도 내림차순 정렬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6B7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진행률·중지·디스크 캐시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6B7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 클릭 → 해당 종목 정밀 분석으로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046720" y="1691640"/>
            <a:ext cx="3429000" cy="2331720"/>
          </a:xfrm>
          <a:prstGeom prst="roundRect">
            <a:avLst>
              <a:gd name="adj" fmla="val 3922"/>
            </a:avLst>
          </a:prstGeom>
          <a:solidFill>
            <a:srgbClr val="F1F4FA"/>
          </a:solidFill>
          <a:ln/>
          <a:effectLst>
            <a:outerShdw sx="100000" sy="100000" kx="0" ky="0" algn="bl" rotWithShape="0" blurRad="152400" dist="38100" dir="5400000">
              <a:srgbClr val="1E2E5A">
                <a:alpha val="14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321040" y="1920240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AI 코드 감사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321040" y="2377440"/>
            <a:ext cx="2926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6B7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GAF 수학 불변식·데이터 무결성 진단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6B7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VAE 사후분포 붕괴 · 분류기 건전성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6B7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 시 Claude API 패치 → 재진단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6B7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 없으면 자동 롤백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42976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 엔드포인트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470916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7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/api/analyze          종목 분석 시작 (백그라운드)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7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/api/scan/stats       스캔 결과 유의성 검정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7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/api/trade/plan       주간·월간 매매 계획 산출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7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/api/trade/execute    계획 실행 (live=false 기본)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7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/api/toss/summary     계좌·보유·매수여력 조회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955280" y="4297680"/>
            <a:ext cx="3566160" cy="1508760"/>
          </a:xfrm>
          <a:prstGeom prst="roundRect">
            <a:avLst>
              <a:gd name="adj" fmla="val 6061"/>
            </a:avLst>
          </a:prstGeom>
          <a:solidFill>
            <a:srgbClr val="E8F7F2"/>
          </a:solidFill>
          <a:ln/>
          <a:effectLst>
            <a:outerShdw sx="100000" sy="100000" kx="0" ky="0" algn="bl" rotWithShape="0" blurRad="152400" dist="38100" dir="5400000">
              <a:srgbClr val="1E2E5A">
                <a:alpha val="14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183880" y="452628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무거운 작업은 전부 백그라운드 스레드 + 상태 폴링이다. 계획 산출은 VAE 2회 학습과 36 walks 라 수 분이 걸리는데, HTTP 를 막지 않는다.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2C39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SYSTEM 2/3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621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토스증권 Open API 연동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7276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B7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예측이 실제 주문으로 이어지는 마지막 구간. OAuth2 client_credentials 로 토큰을 받아 만료 60초 전에 자동 갱신하고, 429 는 Retry-After 를 따라 지수 백오프로 재시도한다.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3429000" cy="2514600"/>
          </a:xfrm>
          <a:prstGeom prst="roundRect">
            <a:avLst>
              <a:gd name="adj" fmla="val 3636"/>
            </a:avLst>
          </a:prstGeom>
          <a:solidFill>
            <a:srgbClr val="F1F4FA"/>
          </a:solidFill>
          <a:ln/>
          <a:effectLst>
            <a:outerShdw sx="100000" sy="100000" kx="0" ky="0" algn="bl" rotWithShape="0" blurRad="152400" dist="38100" dir="5400000">
              <a:srgbClr val="1E2E5A">
                <a:alpha val="14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14400" y="2395728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시세 · 종목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788920"/>
            <a:ext cx="2880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7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prices()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7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orderbook()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7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candles()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7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exchange_rate()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7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us_market_calendar()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420624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토큰만 필요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43400" y="2194560"/>
            <a:ext cx="3429000" cy="2514600"/>
          </a:xfrm>
          <a:prstGeom prst="roundRect">
            <a:avLst>
              <a:gd name="adj" fmla="val 3636"/>
            </a:avLst>
          </a:prstGeom>
          <a:solidFill>
            <a:srgbClr val="F1F4FA"/>
          </a:solidFill>
          <a:ln/>
          <a:effectLst>
            <a:outerShdw sx="100000" sy="100000" kx="0" ky="0" algn="bl" rotWithShape="0" blurRad="152400" dist="38100" dir="5400000">
              <a:srgbClr val="1E2E5A">
                <a:alpha val="14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617720" y="2395728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계좌 · 자산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2788920"/>
            <a:ext cx="2880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7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accounts()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7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holdings()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7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buying_power()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7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commissions()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7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sellable_quantity()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420624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계좌 헤더 필요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46720" y="2194560"/>
            <a:ext cx="3429000" cy="2514600"/>
          </a:xfrm>
          <a:prstGeom prst="roundRect">
            <a:avLst>
              <a:gd name="adj" fmla="val 3636"/>
            </a:avLst>
          </a:prstGeom>
          <a:solidFill>
            <a:srgbClr val="16213E"/>
          </a:solidFill>
          <a:ln/>
          <a:effectLst>
            <a:outerShdw sx="100000" sy="100000" kx="0" ky="0" algn="bl" rotWithShape="0" blurRad="152400" dist="38100" dir="5400000">
              <a:srgbClr val="1E2E5A">
                <a:alpha val="14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321040" y="2395728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주문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2788920"/>
            <a:ext cx="2880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buy() / sell()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create_order()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cancel_order()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modify_order()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orders()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420624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실행은 --live 만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4937760"/>
            <a:ext cx="10881360" cy="1188720"/>
          </a:xfrm>
          <a:prstGeom prst="roundRect">
            <a:avLst>
              <a:gd name="adj" fmla="val 7692"/>
            </a:avLst>
          </a:prstGeom>
          <a:solidFill>
            <a:srgbClr val="FDEEEF"/>
          </a:solidFill>
          <a:ln/>
          <a:effectLst>
            <a:outerShdw sx="100000" sy="100000" kx="0" ky="0" algn="bl" rotWithShape="0" blurRad="152400" dist="38100" dir="5400000">
              <a:srgbClr val="1E2E5A">
                <a:alpha val="14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960120" y="51023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안전장치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2834640" y="5074920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621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실행은 dry-run — 수량·가격까지 계산해 거래 일지(trade_journal.jsonl)에만 기록하고 주문은 내지 않는다.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621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주문은 --live 를 명시할 때만, 그것도 유의성 게이트를 통과한 트랙에 한해서 나간다. 매수 수량은 매수여력 × 트랙 예산 비중으로 제한된다.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2C39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SYSTEM 3/3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621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코드 감사 에이전트 — 자기 자신을 점검하는 계층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7276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B7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수치 파이프라인의 버그는 조용하다. 틀려도 그럴듯한 숫자가 나온다. 그래서 수학적 불변식을 코드로 박아두고, 실패하면 Claude API 에 진단 리포트와 소스를 보내 최소 패치를 받는다.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249424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22494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68680" y="2706624"/>
            <a:ext cx="0" cy="420624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325880" y="2240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진단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246120" y="2212848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 컴파일 · GAF 불변식(GADF 반대칭·대각 0·범위, GASF 대칭)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데이터셋 무결성(NaN·라벨 균형·최신성) · VAE 사후분포 붕괴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분류기·Walk-forward 건전성 · gs-quant 지표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3182112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3182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68680" y="3639312"/>
            <a:ext cx="0" cy="420624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325880" y="31729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 · 패치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246120" y="3145536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 항목이 있으면 진단 리포트 + 소스를 Claude API 로 전송,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 분석과 최소 패치를 JSON 으로 수신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411480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68680" y="4572000"/>
            <a:ext cx="0" cy="420624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325880" y="410565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적용 · 재검증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3246120" y="4078224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화이트리스트 파일만 .py.bak 백업 후 패치 → 컴파일 검사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모듈 리로드 → 재진단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5047488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5047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503834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롤백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246120" y="5010912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개선이 없으면 자동 롤백. 최대 2회 시도 후 중단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144000" y="2194560"/>
            <a:ext cx="2377440" cy="3337560"/>
          </a:xfrm>
          <a:prstGeom prst="roundRect">
            <a:avLst>
              <a:gd name="adj" fmla="val 3846"/>
            </a:avLst>
          </a:prstGeom>
          <a:solidFill>
            <a:srgbClr val="16213E"/>
          </a:solidFill>
          <a:ln/>
          <a:effectLst>
            <a:outerShdw sx="100000" sy="100000" kx="0" ky="0" algn="bl" rotWithShape="0" blurRad="152400" dist="38100" dir="5400000">
              <a:srgbClr val="1E2E5A">
                <a:alpha val="14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9326880" y="24231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02C39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패치 허용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02C39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파일만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9326880" y="301752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gaf.py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vae.py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models.py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quant.py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backtest.py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pipeline.py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nasdaq100.py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data.py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9326880" y="49377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961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toss.py · server.py 는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961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제외 — 주문 경로는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961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가 건드리지 않는다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2C39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시연 — 예측에서 주문까지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6858000" cy="3977640"/>
          </a:xfrm>
          <a:prstGeom prst="roundRect">
            <a:avLst>
              <a:gd name="adj" fmla="val 2299"/>
            </a:avLst>
          </a:prstGeom>
          <a:solidFill>
            <a:srgbClr val="1E2E5A"/>
          </a:solidFill>
          <a:ln/>
        </p:spPr>
      </p:sp>
      <p:sp>
        <p:nvSpPr>
          <p:cNvPr id="5" name="Shape 3"/>
          <p:cNvSpPr/>
          <p:nvPr/>
        </p:nvSpPr>
        <p:spPr>
          <a:xfrm>
            <a:off x="3520440" y="3154680"/>
            <a:ext cx="1097280" cy="10972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520440" y="31546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4348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영상 삽입 위치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480060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7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PowerPoint 리본 → 삽입 → 비디오 → 이 디바이스 →  demo.mp4 를 이 사각형 위에 올려 크기를 맞춥니다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863840" y="1737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시연 순서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863840" y="219456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00:00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595360" y="21945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 account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8595360" y="245059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실계좌 연결 확인 — 잔고·현재가 조회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7863840" y="290779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00:30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595360" y="290779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 open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8595360" y="316382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대시보드 3개 탭 · 캔들과 신호 · 스캔 결과 정렬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7863840" y="3621024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01:30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595360" y="362102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 plan TICKER=…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8595360" y="387705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주간·월간 계획 산출, 유의성 검정과 판정 출력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7863840" y="4334256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02:30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595360" y="433425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판정 읽기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8595360" y="459028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 ≥ 0.05 → '우연과 구분 불가' → 주문 없음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7863840" y="504748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03:00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595360" y="504748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 journal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8595360" y="53035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거래 일지와 현재가 대조 — 기록은 남는다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7863840" y="58064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6B7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녹화 전: .env 자격증명 · make status · 글꼴 16pt 이상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2C39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WRAP-UP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621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정리 — 무엇을 만들었고 무엇이 남았나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49240" cy="4160520"/>
          </a:xfrm>
          <a:prstGeom prst="roundRect">
            <a:avLst>
              <a:gd name="adj" fmla="val 2198"/>
            </a:avLst>
          </a:prstGeom>
          <a:solidFill>
            <a:srgbClr val="E8F7F2"/>
          </a:solidFill>
          <a:ln/>
          <a:effectLst>
            <a:outerShdw sx="100000" sy="100000" kx="0" ky="0" algn="bl" rotWithShape="0" blurRad="152400" dist="38100" dir="5400000">
              <a:srgbClr val="1E2E5A">
                <a:alpha val="14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1920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1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77440"/>
            <a:ext cx="4709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00"/>
              </a:lnSpc>
              <a:spcAft>
                <a:spcPts val="2000"/>
              </a:spcAft>
              <a:buSzPct val="100000"/>
              <a:buChar char="•"/>
            </a:pPr>
            <a:r>
              <a:rPr lang="en-US" sz="1250" dirty="0">
                <a:solidFill>
                  <a:srgbClr val="1621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논문의 GAF·VAE 파이프라인을 재현하고 2채널로 개선 (AUC 0.53 → 0.64)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2000"/>
              </a:spcAft>
              <a:buSzPct val="100000"/>
              <a:buChar char="•"/>
            </a:pPr>
            <a:r>
              <a:rPr lang="en-US" sz="1250" dirty="0">
                <a:solidFill>
                  <a:srgbClr val="1621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시간을 4시간 50분에서 수십 초로 줄여 실시간 재분석과 250종목 스캔을 가능하게 함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2000"/>
              </a:spcAft>
              <a:buSzPct val="100000"/>
              <a:buChar char="•"/>
            </a:pPr>
            <a:r>
              <a:rPr lang="en-US" sz="1250" dirty="0">
                <a:solidFill>
                  <a:srgbClr val="1621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라벨 누수·표본 겹침·다중검정을 처리한 표본 외 검증 체계 구축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2000"/>
              </a:spcAft>
              <a:buSzPct val="100000"/>
              <a:buChar char="•"/>
            </a:pPr>
            <a:r>
              <a:rPr lang="en-US" sz="1250" dirty="0">
                <a:solidFill>
                  <a:srgbClr val="1621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유의성 게이트를 통과한 신호만 토스증권 API 로 주문하는 경로 완성 (기본 dry-run)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2000"/>
              </a:spcAft>
              <a:buSzPct val="100000"/>
              <a:buChar char="•"/>
            </a:pPr>
            <a:r>
              <a:rPr lang="en-US" sz="1250" dirty="0">
                <a:solidFill>
                  <a:srgbClr val="1621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수학 불변식 진단 + AI 패치·롤백 루프로 계산 코드 자가 점검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691640"/>
            <a:ext cx="5257800" cy="4160520"/>
          </a:xfrm>
          <a:prstGeom prst="roundRect">
            <a:avLst>
              <a:gd name="adj" fmla="val 2198"/>
            </a:avLst>
          </a:prstGeom>
          <a:solidFill>
            <a:srgbClr val="F1F4FA"/>
          </a:solidFill>
          <a:ln/>
          <a:effectLst>
            <a:outerShdw sx="100000" sy="100000" kx="0" ky="0" algn="bl" rotWithShape="0" blurRad="152400" dist="38100" dir="5400000">
              <a:srgbClr val="1E2E5A">
                <a:alpha val="14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583680" y="1920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961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남은 과제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2377440"/>
            <a:ext cx="4617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00"/>
              </a:lnSpc>
              <a:spcAft>
                <a:spcPts val="2000"/>
              </a:spcAft>
              <a:buSzPct val="100000"/>
              <a:buChar char="•"/>
            </a:pPr>
            <a:r>
              <a:rPr lang="en-US" sz="1250" dirty="0">
                <a:solidFill>
                  <a:srgbClr val="6B7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특징을 잠재변수 15차원에만 의존 — 거래량·섹터·거시 변수 결합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2000"/>
              </a:spcAft>
              <a:buSzPct val="100000"/>
              <a:buChar char="•"/>
            </a:pPr>
            <a:r>
              <a:rPr lang="en-US" sz="1250" dirty="0">
                <a:solidFill>
                  <a:srgbClr val="6B7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라벨을 방향 이진에서 초과수익·변동성 조정 수익으로 교체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2000"/>
              </a:spcAft>
              <a:buSzPct val="100000"/>
              <a:buChar char="•"/>
            </a:pPr>
            <a:r>
              <a:rPr lang="en-US" sz="1250" dirty="0">
                <a:solidFill>
                  <a:srgbClr val="6B7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지표 블렌딩 가중치 0.3 고정 — 백테스트 기반 최적화 필요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2000"/>
              </a:spcAft>
              <a:buSzPct val="100000"/>
              <a:buChar char="•"/>
            </a:pPr>
            <a:r>
              <a:rPr lang="en-US" sz="1250" dirty="0">
                <a:solidFill>
                  <a:srgbClr val="6B7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스프레드·환전 비용 미반영 — 체결 시뮬레이션 정교화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2000"/>
              </a:spcAft>
              <a:buSzPct val="100000"/>
              <a:buChar char="•"/>
            </a:pPr>
            <a:r>
              <a:rPr lang="en-US" sz="1250" dirty="0">
                <a:solidFill>
                  <a:srgbClr val="6B7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실계좌 소액 페이퍼 트레이딩으로 전 구간 검증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60350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프로그램은 연구·교육용이며 투자 판단의 근거가 될 수 없습니다.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3840480"/>
            <a:ext cx="4572000" cy="4572000"/>
          </a:xfrm>
          <a:prstGeom prst="ellipse">
            <a:avLst/>
          </a:prstGeom>
          <a:solidFill>
            <a:srgbClr val="1E2E5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26517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감사합니다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611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2C39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환영합니다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4251960"/>
            <a:ext cx="201168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44805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GAF · VAE Quant   ·   논문: 조예서(2022) 한양대학교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GAF·VAE Quant</dc:title>
  <dc:subject>PptxGenJS Presentation</dc:subject>
  <dc:creator>GAF-VAE Quant</dc:creator>
  <cp:lastModifiedBy>GAF-VAE Quant</cp:lastModifiedBy>
  <cp:revision>1</cp:revision>
  <dcterms:created xsi:type="dcterms:W3CDTF">2026-09-01T05:29:37Z</dcterms:created>
  <dcterms:modified xsi:type="dcterms:W3CDTF">2026-09-01T05:29:37Z</dcterms:modified>
</cp:coreProperties>
</file>